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(mech + loss)</c:v>
                </c:pt>
              </c:strCache>
            </c:strRef>
          </c:tx>
          <c:spPr>
            <a:ln w="31750" cap="flat">
              <a:solidFill>
                <a:srgbClr val="1623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233F"/>
              </a:solidFill>
              <a:ln w="9525" cap="flat">
                <a:solidFill>
                  <a:srgbClr val="16233F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10.5</c:v>
                </c:pt>
                <c:pt idx="6">
                  <c:v>11.7</c:v>
                </c:pt>
                <c:pt idx="7">
                  <c:v>12.9</c:v>
                </c:pt>
                <c:pt idx="8">
                  <c:v>14</c:v>
                </c:pt>
                <c:pt idx="9">
                  <c:v>15</c:v>
                </c:pt>
                <c:pt idx="10">
                  <c:v>16.100000000000001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13-4B02-8EEF-3EF60D10D1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P_mech only</c:v>
                </c:pt>
              </c:strCache>
            </c:strRef>
          </c:tx>
          <c:spPr>
            <a:ln w="31750" cap="flat">
              <a:solidFill>
                <a:srgbClr val="0E7C8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1.1000000000000001</c:v>
                </c:pt>
                <c:pt idx="2">
                  <c:v>2.2000000000000002</c:v>
                </c:pt>
                <c:pt idx="3">
                  <c:v>3.3</c:v>
                </c:pt>
                <c:pt idx="4">
                  <c:v>4.4000000000000004</c:v>
                </c:pt>
                <c:pt idx="5">
                  <c:v>5.5</c:v>
                </c:pt>
                <c:pt idx="6">
                  <c:v>6.6</c:v>
                </c:pt>
                <c:pt idx="7">
                  <c:v>7.8</c:v>
                </c:pt>
                <c:pt idx="8">
                  <c:v>8.9</c:v>
                </c:pt>
                <c:pt idx="9">
                  <c:v>10</c:v>
                </c:pt>
                <c:pt idx="10">
                  <c:v>11.1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13-4B02-8EEF-3EF60D10D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2E9B6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4D-42B9-8871-CEF1CAEC5070}"/>
              </c:ext>
            </c:extLst>
          </c:dPt>
          <c:dPt>
            <c:idx val="1"/>
            <c:invertIfNegative val="0"/>
            <c:bubble3D val="0"/>
            <c:spPr>
              <a:solidFill>
                <a:srgbClr val="1623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4D-42B9-8871-CEF1CAEC5070}"/>
              </c:ext>
            </c:extLst>
          </c:dPt>
          <c:dPt>
            <c:idx val="2"/>
            <c:invertIfNegative val="0"/>
            <c:bubble3D val="0"/>
            <c:spPr>
              <a:solidFill>
                <a:srgbClr val="D848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4D-42B9-8871-CEF1CAEC507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623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ECO</c:v>
                </c:pt>
                <c:pt idx="1">
                  <c:v>NORMAL</c:v>
                </c:pt>
                <c:pt idx="2">
                  <c:v>SPORT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</c:v>
                </c:pt>
                <c:pt idx="1">
                  <c:v>160</c:v>
                </c:pt>
                <c:pt idx="2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04D-42B9-8871-CEF1CAEC50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6233F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16233F"/>
                </a:solidFill>
                <a:latin typeface="Arial"/>
              </a:rPr>
              <a:t>Regen Torque vs Brake Pedal 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Motor torque (Nm)</c:v>
                </c:pt>
              </c:strCache>
            </c:strRef>
          </c:tx>
          <c:spPr>
            <a:ln w="31750" cap="flat">
              <a:solidFill>
                <a:srgbClr val="D848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8483F"/>
              </a:solidFill>
              <a:ln w="9525" cap="flat">
                <a:solidFill>
                  <a:srgbClr val="D8483F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  <c:pt idx="3">
                  <c:v>30%</c:v>
                </c:pt>
                <c:pt idx="4">
                  <c:v>40%</c:v>
                </c:pt>
                <c:pt idx="5">
                  <c:v>50%</c:v>
                </c:pt>
                <c:pt idx="6">
                  <c:v>60%</c:v>
                </c:pt>
                <c:pt idx="7">
                  <c:v>70%</c:v>
                </c:pt>
                <c:pt idx="8">
                  <c:v>80%</c:v>
                </c:pt>
                <c:pt idx="9">
                  <c:v>90%</c:v>
                </c:pt>
                <c:pt idx="10">
                  <c:v>100%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-5.6000000000000005</c:v>
                </c:pt>
                <c:pt idx="2">
                  <c:v>-11.200000000000001</c:v>
                </c:pt>
                <c:pt idx="3">
                  <c:v>-16.8</c:v>
                </c:pt>
                <c:pt idx="4">
                  <c:v>-22.400000000000002</c:v>
                </c:pt>
                <c:pt idx="5">
                  <c:v>-28.000000000000004</c:v>
                </c:pt>
                <c:pt idx="6">
                  <c:v>-33.6</c:v>
                </c:pt>
                <c:pt idx="7">
                  <c:v>-39.200000000000003</c:v>
                </c:pt>
                <c:pt idx="8">
                  <c:v>-44.800000000000004</c:v>
                </c:pt>
                <c:pt idx="9">
                  <c:v>-50.400000000000006</c:v>
                </c:pt>
                <c:pt idx="10">
                  <c:v>-56.000000000000007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C3-4F15-A15F-B86AE7DFE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689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411480"/>
            <a:ext cx="6035040" cy="6035040"/>
          </a:xfrm>
          <a:prstGeom prst="ellipse">
            <a:avLst/>
          </a:prstGeom>
          <a:ln w="13970">
            <a:solidFill>
              <a:srgbClr val="12A5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60820" y="937260"/>
            <a:ext cx="4983480" cy="4983480"/>
          </a:xfrm>
          <a:prstGeom prst="ellipse">
            <a:avLst/>
          </a:prstGeom>
          <a:ln w="13970">
            <a:solidFill>
              <a:srgbClr val="12A5A0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1463040"/>
            <a:ext cx="3931920" cy="3931920"/>
          </a:xfrm>
          <a:prstGeom prst="ellipse">
            <a:avLst/>
          </a:prstGeom>
          <a:ln w="13970">
            <a:solidFill>
              <a:srgbClr val="12A5A0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2380" y="1988820"/>
            <a:ext cx="2880360" cy="2880360"/>
          </a:xfrm>
          <a:prstGeom prst="ellipse">
            <a:avLst/>
          </a:prstGeom>
          <a:ln w="13970">
            <a:solidFill>
              <a:srgbClr val="12A5A0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3108960"/>
            <a:ext cx="640080" cy="640080"/>
          </a:xfrm>
          <a:prstGeom prst="ellipse">
            <a:avLst/>
          </a:prstGeom>
          <a:solidFill>
            <a:srgbClr val="E8991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EMERTXE EMBEDDED SYSTEMS INTERNSHIP  •  CAPSTONE WALKTHROUGH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6916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ADAS Dashboard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Blinking LED to a Real-Time ADAS + EV Telemetry System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2262226" cy="384048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22622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STM32F103C8T6 Blue Pill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8338" y="3657600"/>
            <a:ext cx="1007669" cy="384048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8338" y="3657600"/>
            <a:ext cx="10076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PicSimLab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30598" y="3657600"/>
            <a:ext cx="1007669" cy="384048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0598" y="3657600"/>
            <a:ext cx="10076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HAL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02859" y="3657600"/>
            <a:ext cx="1903781" cy="384048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2859" y="3657600"/>
            <a:ext cx="19037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Matplotlib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71232" y="3657600"/>
            <a:ext cx="1276502" cy="384048"/>
          </a:xfrm>
          <a:prstGeom prst="roundRect">
            <a:avLst>
              <a:gd name="adj" fmla="val 50000"/>
            </a:avLst>
          </a:prstGeom>
          <a:solidFill>
            <a:srgbClr val="2A3B5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365760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@115200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Debjit Das  •  Animesh Kullu  • </a:t>
            </a:r>
            <a:r>
              <a:rPr lang="en-US" sz="1300" dirty="0" err="1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Supradip</a:t>
            </a: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Karmakar  • </a:t>
            </a:r>
            <a:r>
              <a:rPr lang="en-US" sz="1300" dirty="0" err="1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ECE, JGEC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2910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C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format: PPT walkthrough + live PicSimLab simulation demo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Walkthrough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mirroring how the firmware itself was actually built — one peripheral at a time.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35000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45920" y="258775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Toolchain, ARM/STM32 basics, first LED blink, timer interrupts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852160" y="187452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72200" y="219456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1"/>
          <p:cNvSpPr/>
          <p:nvPr/>
        </p:nvSpPr>
        <p:spPr>
          <a:xfrm>
            <a:off x="61722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3500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&amp; Sensing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949440" y="258775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theory, 4-channel pedal/battery/temp sensing over UART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617720"/>
            <a:ext cx="566928" cy="566928"/>
          </a:xfrm>
          <a:prstGeom prst="ellipse">
            <a:avLst/>
          </a:prstGeom>
          <a:solidFill>
            <a:srgbClr val="E8991F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77316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+ ADAS Engine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645920" y="501091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Speed/SOC/regen physics model, HC-SR04 collision &amp; blind-spot logic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852160" y="429768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72200" y="46177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1"/>
          <p:cNvSpPr/>
          <p:nvPr/>
        </p:nvSpPr>
        <p:spPr>
          <a:xfrm>
            <a:off x="617220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4773168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949440" y="4590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Telemetry &amp; Dashboard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6949440" y="5010912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protocol, shell commands, live Python matplotlib dashboard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Build a Smart EV Dashboard?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BEEEC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8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19456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EVs generate huge volumes of real-time sensor data — speed, battery SOC, motor temperature, torque, and range.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centralized dashboard, engineers cannot monitor EV performance and ADAS safety data simultaneously.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operator cannot track everything manually — collisions, blind spots, and faults can go undetected.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3113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2212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speed, SOC &amp; range monitoring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85292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7728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collision &amp; blind-spot detection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474720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67728" y="3456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temperature &amp; fault alerting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09651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67728" y="40782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Python dashboard streamed over UART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718304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67728" y="47000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alarm system (Advisory → Critical)</a:t>
            </a:r>
            <a:endParaRPr lang="en-US" sz="13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340096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67728" y="53218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Drive-mode control (ECO / NORMAL / SPORT)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vs TARGET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01168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running STM32CubeIDE — where firmware is written &amp; built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PicSimLab → simulates a Blue Pill board → STM32F103C8T6 MCU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97880" y="1508760"/>
            <a:ext cx="5715000" cy="2148840"/>
          </a:xfrm>
          <a:prstGeom prst="roundRect">
            <a:avLst>
              <a:gd name="adj" fmla="val 3404"/>
            </a:avLst>
          </a:prstGeom>
          <a:solidFill>
            <a:srgbClr val="FDF3E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9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SIMULATE FIRST?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0" y="20116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PicSimLab models real GPIO/ADC/UART/timer behaviour in software — letting the whole firmware stack (blink → sensors → EV physics → ADAS → dashboard) be built, tested, and demoed without any physical hardware on the bench.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230428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STM32CubeIDE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 firmware programming (CubeMX config + build + flash)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PicSimLab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 Blue Pill board simulation — GPIO, ADC, UART, timers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 + pip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dashboard application and its libraries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numpy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10 fps gauge / chart visualization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pyserial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UART telemetry stream from PicSimLab's virtual COM 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3840480"/>
            <a:ext cx="11064240" cy="384048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3840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703320" y="3840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 Cortex-M &amp; the STM32F103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smartphones run on ARM cores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2316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423160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vendors license ARM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9768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30B+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297680" y="19019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chips shipped in 2023 alone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1463040"/>
            <a:ext cx="0" cy="1005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Pill = STM32F103C8T6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17556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Cortex-M3 core · up to 72 MHz · 64 KB Flash · 20 KB SRAM · low-cost, general-purpose — best for LED / sensor / communication projects like this one.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697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2880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Cortex-A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3584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· runs Linux/Android — phones, tablets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97680" y="2697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26280" y="2880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2" name="Text 19"/>
          <p:cNvSpPr/>
          <p:nvPr/>
        </p:nvSpPr>
        <p:spPr>
          <a:xfrm>
            <a:off x="4526280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2628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Cortex-R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26280" y="3584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· safety-critical — automotive ECUs, medical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46720" y="2697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75320" y="2880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991F"/>
          </a:solidFill>
          <a:ln/>
        </p:spPr>
      </p:sp>
      <p:sp>
        <p:nvSpPr>
          <p:cNvPr id="27" name="Text 24"/>
          <p:cNvSpPr/>
          <p:nvPr/>
        </p:nvSpPr>
        <p:spPr>
          <a:xfrm>
            <a:off x="8275320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753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Cortex-M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75320" y="3584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power, low cost — IoT, sensors, embedded control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 SERIES  —  increasing performance &amp; power →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663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3152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/ M0+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31520" y="51389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Smallest, most energy efficient — ultra-low-power IoT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337560" y="4663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352044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(used here)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3520440" y="51389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General-purpose, no DSP/FPU — STM32F1 family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26480" y="4663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630936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309360" y="51389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+ optional FPU — signal processing, STM32F4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915400" y="4663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9098280" y="4800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9098280" y="51389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— dual-issue, large cache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03  —  DAY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Blink: Plain GPIO Toggle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bring-up starts the same way — prove the toolchain, the flash, and one pin all work together.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 — while(1) loop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GPIO_InitStruct.Pin = GPIO_PIN_13;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GPIO_InitStruct.Mode = GPIO_MODE_OUTPUT_PP;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HAL_GPIO_Init(GPIOC, &amp;GPIO_InitStruct);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(1)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HAL_GPIO_TogglePin(GPIOC, GPIO_PIN_13);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HAL_Delay(500);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0" y="1828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HAL CALLS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1945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37960" y="2194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HAL_GPIO_WritePin()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732520" y="21945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 pin explicitly SET or RESET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2880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0" y="28803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HAL_GPIO_TogglePin()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732520" y="2880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Inverts the current output state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35661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3566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HAL_Delay(ms)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732520" y="3566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millisecond delay (SysTick-based)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09360" y="43434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DF3E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37960" y="44988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9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PC13 IS ACTIVE-LOW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537960" y="4791456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Blue Pill boards, PC13 drives the onboard LED to ground — the pin is lit when driven LOW. A toggle still blinks correctly either way; only the very first visible state depends on the initial output level.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· 04  —  DAY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Non-Blocking Blink: TIM1 Interrupt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984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HAL_Delay() ties up the CPU. Swapping to a hardware timer interrupt frees the processor for everything that comes later.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806440" cy="1371600"/>
          </a:xfrm>
          <a:prstGeom prst="roundRect">
            <a:avLst>
              <a:gd name="adj" fmla="val 5333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178308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9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Frequency  =  TIM1_CLK  /  [ (PSC+1) × (ARR+1) ]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42316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D6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PSC = 7199,  ARR = 9999   →   divisor = 7200 × 10000 = 72,000,000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TIM1_CLK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6324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72,000,000 Hz (typical Blue Pill default)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Frequency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06324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72,000,000 / 72,000,000 = 1 Hz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toggle rate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063240" y="4343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 s → full ON/OFF cycle = 2 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983480"/>
            <a:ext cx="5806440" cy="1097280"/>
          </a:xfrm>
          <a:prstGeom prst="roundRect">
            <a:avLst>
              <a:gd name="adj" fmla="val 6667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4983480"/>
            <a:ext cx="5257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later: the exact same pattern — configure a timer, enable its interrupt, act in the callback — later drives the 10 ms EV-physics tick (TIM1) and the 100 ms sensor tick (TIM3).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583680" y="1783080"/>
            <a:ext cx="4937760" cy="4297680"/>
          </a:xfrm>
          <a:prstGeom prst="roundRect">
            <a:avLst>
              <a:gd name="adj" fmla="val 1702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03720" y="1965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+ user code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03720" y="2331720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htim1.Instance = TIM1;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htim1.Init.Prescaler = 7199;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htim1.Init.Period = 9999;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HAL_TIM_Base_Init(&amp;htim1);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USER CODE 2 */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HAL_TIM_Base_Start_IT(&amp;htim1);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HAL_TIM_PeriodElapsedCallback(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TIM_HandleTypeDef *htim)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(htim-&gt;Instance == TIM1)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HAL_GPIO_TogglePin(GPIOC,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GPIO_PIN_13);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SENSING ·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 Fundamentals: 12-bit Mapping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 Value  =  ( Vin / Vref )  ×  4095          Voltage  =  ADC_Value × 3.3 / 4095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8803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V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" y="379476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 —  pedal released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274320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25112" y="28803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 V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25112" y="324612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2047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325112" y="379476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 —  mid-range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01584" y="2743200"/>
            <a:ext cx="3593592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101584" y="28803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V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01584" y="324612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4095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101584" y="379476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—  pedal floored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STM32F103 ADC FACTS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754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12-bit (0 – 4095)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5120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Vref: 0 – 3.3 V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5486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18 channels · Single / Scan / Continuous modes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63640" y="44348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BEEEC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617720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03720" y="4645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84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492240" y="50292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PicSimLab's ADC does NOT support Scan/DMA multi-channel. Every channel must be read one at a time by calling HAL_ADC_ConfigChannel() before each HAL_ADC_Start().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&amp; SENSING ·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Polling 4 Channels → UART Display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93776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Accelerator Pedal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 Pedal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SOC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Temp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1600200"/>
            <a:ext cx="4937760" cy="4572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920240" y="1600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endParaRPr lang="en-US" sz="1200" dirty="0"/>
          </a:p>
        </p:txBody>
      </p:sp>
      <p:sp>
        <p:nvSpPr>
          <p:cNvPr id="6" name="Text 6"/>
          <p:cNvSpPr/>
          <p:nvPr/>
        </p:nvSpPr>
        <p:spPr>
          <a:xfrm>
            <a:off x="310896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20624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22960" y="43708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 (each loop)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" y="475488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754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PA0 Accel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664208" y="4754880"/>
            <a:ext cx="9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755648" y="475488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7" name="Text 13"/>
          <p:cNvSpPr/>
          <p:nvPr/>
        </p:nvSpPr>
        <p:spPr>
          <a:xfrm>
            <a:off x="1755648" y="4754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 Brake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96896" y="4754880"/>
            <a:ext cx="9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688336" y="475488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0" name="Text 16"/>
          <p:cNvSpPr/>
          <p:nvPr/>
        </p:nvSpPr>
        <p:spPr>
          <a:xfrm>
            <a:off x="2688336" y="4754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PA2 SOC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29584" y="4754880"/>
            <a:ext cx="9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621024" y="475488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3" name="Text 19"/>
          <p:cNvSpPr/>
          <p:nvPr/>
        </p:nvSpPr>
        <p:spPr>
          <a:xfrm>
            <a:off x="3621024" y="4754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PA3 Temp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462272" y="4754880"/>
            <a:ext cx="91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553712" y="475488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E8991F"/>
          </a:solidFill>
          <a:ln/>
        </p:spPr>
      </p:sp>
      <p:sp>
        <p:nvSpPr>
          <p:cNvPr id="26" name="Text 22"/>
          <p:cNvSpPr/>
          <p:nvPr/>
        </p:nvSpPr>
        <p:spPr>
          <a:xfrm>
            <a:off x="4553712" y="4754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TX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2960" y="53492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accel/brake/SOC = raw × 100/4095 (%)   ·   temp = raw × 150/4095 (0–150°C)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715000" y="1600200"/>
            <a:ext cx="5897880" cy="2148840"/>
          </a:xfrm>
          <a:prstGeom prst="roundRect">
            <a:avLst>
              <a:gd name="adj" fmla="val 3404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5989320" y="1737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ADC_Read() helper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989320" y="201168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cfg.Channel = channel;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cfg.Rank = ADC_REGULAR_RANK_1;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HAL_ADC_ConfigChannel(&amp;hadc1,&amp;cfg);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HAL_ADC_Start(&amp;hadc1);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HAL_ADC_PollForConversion(&amp;hadc1,100);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= HAL_ADC_GetValue(&amp;hadc1);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HAL_ADC_Stop(&amp;hadc1);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715000" y="3931920"/>
            <a:ext cx="5897880" cy="2194560"/>
          </a:xfrm>
          <a:prstGeom prst="roundRect">
            <a:avLst>
              <a:gd name="adj" fmla="val 3333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5989320" y="4096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OUTPUT  ·  115200 baud, 8N1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89320" y="4407408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ACCEL= 45%  BRAKE=  0%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  = 78%  TEMP = 65C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989320" y="52120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printf() directly — it needs retargeting. Build the string with sprintf() and send it via HAL_UART_Transmit().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·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Pin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9019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313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31520" y="2587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(Accel/Brake/SOC/Temp)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+ 3× HC-SR04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154680" y="20574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91F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374136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57016" y="17830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190195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2313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Blue Pill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557016" y="2587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Control · ADAS 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Fault Handler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980176" y="20574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91F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199632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82512" y="178308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1384" y="190195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2512" y="2313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· 115200 bps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382512" y="2587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telemetry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frames, every 100 ms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8805672" y="20574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91F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025128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208008" y="17830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19019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08008" y="23134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Dashboard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208008" y="2587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Speedometer · SOC bar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ADAS bird's-eye view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4864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PIN ASSIGNMENTS  —  Blue Pill (STM32F103C8T6)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11064240" cy="2606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PA0–PA3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ADC1 CH0–CH3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 / Brake / SOC / Motor Temp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TIM1 CH1 (PWM)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 signal, 20 kHz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PA9 / PA10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USART1 TX / RX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stream / command shell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PB0–PB5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Trig/Echo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HC-SR04: Front, Left, Right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PB8–PB11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Collision, blind-spot &amp; fault LEDs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Repurposed: Day-1/2 blink LED → alarm buzzer (buzzer.c)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 2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ADAS ENGINE ·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Control Module — ev_control.c/.h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593592" cy="3749040"/>
          </a:xfrm>
          <a:prstGeom prst="roundRect">
            <a:avLst>
              <a:gd name="adj" fmla="val 2036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speed_kmh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7249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torque_Nm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2095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soc_pct (0–100%)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36941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range_km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1788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power_kW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mode, regen_active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5112" y="1600200"/>
            <a:ext cx="3593592" cy="3749040"/>
          </a:xfrm>
          <a:prstGeom prst="roundRect">
            <a:avLst>
              <a:gd name="adj" fmla="val 2036"/>
            </a:avLst>
          </a:prstGeom>
          <a:solidFill>
            <a:srgbClr val="FDF3E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99432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Constants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99432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MAX_SPEED = 200 km/h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99432" y="27249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MAX_TORQUE = 150 Nm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99432" y="32095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REGEN_MAX = −80 Nm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99432" y="36941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BRAKE_THRESH = 5%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99432" y="41788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DRAG_COEFF = 2.0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99432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MASS_FACTOR = 100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01584" y="1600200"/>
            <a:ext cx="3593592" cy="3749040"/>
          </a:xfrm>
          <a:prstGeom prst="roundRect">
            <a:avLst>
              <a:gd name="adj" fmla="val 2036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375904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Functions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375904" y="2240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EV_Init()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375904" y="27249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EV_Update()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75904" y="32095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EV_ReadADC()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75904" y="369417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EV_SetDriveMode()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375904" y="41788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EV_InjectSpeed()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375904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EV_InjectSOC/Temp()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module quietly powers speed, battery drain, range, drive-mode feel, and regen braking — all from four HAL inputs.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ADAS ENGINE ·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Model — Lumped Inertia (Euler Step)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9120" y="126187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36855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9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 = (motor_torque − drag_Nm) / MASS_FACTOR          speed_kmh += accel × dt × 3.6   [clamped 0–200]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motor_torque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06040" y="26974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Commanded torque (Nm), from throttle × MAX_TORQUE × mode_scale; negative during regen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2644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drag_Nm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606040" y="32644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speed_ms × DRAG_COEFF — linear approximation of aero + rolling resistance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8313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MASS_FACTOR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606040" y="383133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inertia/gearing constant = 100 — chosen for a punchy feel: full throttle gives ~1.5 m/s² in NORMAL, ~1.95 m/s² in SPORT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1499357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POWER vs SPEED  (NORMAL mode, τ = 150 Nm)</a:t>
            </a:r>
            <a:endParaRPr lang="en-US" sz="1050" dirty="0">
              <a:solidFill>
                <a:schemeClr val="bg1"/>
              </a:solidFill>
            </a:endParaRPr>
          </a:p>
        </p:txBody>
      </p:sp>
      <p:graphicFrame>
        <p:nvGraphicFramePr>
          <p:cNvPr id="15" name="Chart 0"/>
          <p:cNvGraphicFramePr/>
          <p:nvPr>
            <p:extLst>
              <p:ext uri="{D42A27DB-BD31-4B8C-83A1-F6EECF244321}">
                <p14:modId xmlns:p14="http://schemas.microsoft.com/office/powerpoint/2010/main" val="2451814259"/>
              </p:ext>
            </p:extLst>
          </p:nvPr>
        </p:nvGraphicFramePr>
        <p:xfrm>
          <a:off x="6537960" y="2313432"/>
          <a:ext cx="5074920" cy="2129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22960" y="495604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check — CLAMP(v, 0, 200 km/h) — prevents negative speed and enforces the simulated top speed.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035040" y="466344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speed_ms = speed_kmh / 3.6f;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drag_Nm  = speed_ms * DRAG_COEFF;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speed_kmh = CLAMP(speed_kmh + accel*dt*3.6f, 0.0f, MAX_SPEED_KMH);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ADAS ENGINE ·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Estimation, Range &amp; Drive Modes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0876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9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ΔSOC = (P_kW × dt) / (CAP_kWh × 3600) × 100 × SIM_SCALE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10312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Copper-loss term (∝ torque²) means SOC still drains ~5 kW at standstill — models real motor current draw.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EV_SIM_SCALE — demo tuning for a full drain: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3730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~2.7 hrs (real-time)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68880" y="33375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46888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468880" y="3730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minutes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389120" y="33375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389120" y="3401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160.0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89120" y="37307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minute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4434840"/>
            <a:ext cx="562356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296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MODE × TORQUE SCALE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8920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2E9B63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892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 × 0.6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5321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Nm peak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606040" y="48920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25" name="Text 22"/>
          <p:cNvSpPr/>
          <p:nvPr/>
        </p:nvSpPr>
        <p:spPr>
          <a:xfrm>
            <a:off x="2606040" y="4892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× 1.0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606040" y="5321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Nm peak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389120" y="48920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D8483F"/>
          </a:solidFill>
          <a:ln/>
        </p:spPr>
      </p:sp>
      <p:sp>
        <p:nvSpPr>
          <p:cNvPr id="28" name="Text 25"/>
          <p:cNvSpPr/>
          <p:nvPr/>
        </p:nvSpPr>
        <p:spPr>
          <a:xfrm>
            <a:off x="4389120" y="4892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 × 1.3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53218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Nm peak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22960" y="5715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(km) = (SOC% / 100) × E_battery_kWh / η_mode × km_per_kWh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1554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RANGE BY DRIVE MODE (km)</a:t>
            </a:r>
            <a:endParaRPr lang="en-US" sz="11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6492240" y="1828800"/>
          <a:ext cx="51206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Text 29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ADAS ENGINE ·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Regenerative Braking &amp; Motor Thermal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REGENERATIVE BRAKING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brake pedal ADC (0–100%)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15798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brake% &gt; REGEN_THRESHOLD (5%)...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871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regen_level = brake_pedal × 0.7  (0–70% scale)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81635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motor_torque = −(regen_level/100) × REGEN_MAX_NM (80)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14553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100% brake → torque = −0.7 × 80 = −56 Nm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474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torque → negative power → SOC increases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97764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 10"/>
          <p:cNvSpPr/>
          <p:nvPr/>
        </p:nvSpPr>
        <p:spPr>
          <a:xfrm>
            <a:off x="6263640" y="15087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THERMAL MODEL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63640" y="18288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263640" y="182880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9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dT/dt = |P_kW|×0.05 − (T−25)×0.01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263640" y="301752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DF3E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492240" y="30175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Input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001000" y="30175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|P_kW| × 0.05 — 5% of motor power converted to heat, during power draw and regen alike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63640" y="379476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DF3E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92240" y="37947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Term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001000" y="37947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 − 25) × 0.01 — Newton's law of cooling, proportional to temp above 25°C ambient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63640" y="457200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DF3E3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492240" y="45720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001000" y="457200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held within [25°C, 130°C] — 130°C also feeds the FAULT_OT trigger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ADAS ENGINE ·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Ultrasonic ADAS Engine — 3× HC-SR04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LAYOUT (BIRD'S-EYE)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0" y="2148840"/>
            <a:ext cx="960120" cy="960120"/>
          </a:xfrm>
          <a:prstGeom prst="ellipse">
            <a:avLst/>
          </a:prstGeom>
          <a:solidFill>
            <a:srgbClr val="2E9B63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3200400"/>
            <a:ext cx="1234440" cy="1691640"/>
          </a:xfrm>
          <a:prstGeom prst="roundRect">
            <a:avLst>
              <a:gd name="adj" fmla="val 8889"/>
            </a:avLst>
          </a:prstGeom>
          <a:solidFill>
            <a:srgbClr val="16233F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3200400"/>
            <a:ext cx="1234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51560" y="3703320"/>
            <a:ext cx="914400" cy="914400"/>
          </a:xfrm>
          <a:prstGeom prst="ellipse">
            <a:avLst/>
          </a:prstGeom>
          <a:solidFill>
            <a:srgbClr val="E8991F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43400" y="370332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2"/>
          <p:cNvSpPr/>
          <p:nvPr/>
        </p:nvSpPr>
        <p:spPr>
          <a:xfrm>
            <a:off x="4343400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5285232"/>
            <a:ext cx="164592" cy="164592"/>
          </a:xfrm>
          <a:prstGeom prst="ellipse">
            <a:avLst/>
          </a:prstGeom>
          <a:solidFill>
            <a:srgbClr val="2E9B63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52578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FCW Warning: &lt; 50 cm  ·  Critical: &lt; 20 cm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" y="5650992"/>
            <a:ext cx="164592" cy="164592"/>
          </a:xfrm>
          <a:prstGeom prst="ellipse">
            <a:avLst/>
          </a:prstGeom>
          <a:solidFill>
            <a:srgbClr val="E8991F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5623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active: &lt; 30 cm  &amp;  speed &gt; 20 km/h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6016752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59893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Warning: &lt; 3.0 s  ·  Critical: &lt; 1.5 s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00200"/>
          <a:ext cx="576072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→ Echo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/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HC-SR04, GPIO poll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collision warning + TTC calc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HC-SR04, GPIO poll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Blind-spot detection (speed &gt; 20 km/h)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HC-SR04, GPIO poll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Blind-spot detection (speed &gt; 20 km/h)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5852160" y="1600200"/>
            <a:ext cx="5760720" cy="4572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4" name="Text 20"/>
          <p:cNvSpPr/>
          <p:nvPr/>
        </p:nvSpPr>
        <p:spPr>
          <a:xfrm>
            <a:off x="5943600" y="1600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13232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Echo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9235440" y="1600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/ Trigger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852160" y="3657600"/>
            <a:ext cx="5760720" cy="2423160"/>
          </a:xfrm>
          <a:prstGeom prst="roundRect">
            <a:avLst>
              <a:gd name="adj" fmla="val 3019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126480" y="3794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→ Echo Timing (per sensor)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126480" y="41148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Pulse TRIG high for 10 µs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Wait for ECHO to go high (start = counter)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Wait for ECHO to go low (stop = counter)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distance_cm = (stop−start) × 0.0343 / 2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30 ms timeout guards against a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non-responding sensor in simulation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+ ADAS ENGINE ·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ADAS Features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92808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16233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928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5603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Collision Warning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1755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obstacle proximity into 3 levels with a 3-sample hysteresis counter to stop rapid alarm toggling.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07208" y="169164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90088" y="1892808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13" name="Text 10"/>
          <p:cNvSpPr/>
          <p:nvPr/>
        </p:nvSpPr>
        <p:spPr>
          <a:xfrm>
            <a:off x="2990088" y="18928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TTC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990088" y="25603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990088" y="3246120"/>
            <a:ext cx="1755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= distance / relative speed. Triggers WARNING under 3 s, CRITICAL under 1.5 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65776" y="169164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48656" y="1892808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E8991F"/>
          </a:solidFill>
          <a:ln/>
        </p:spPr>
      </p:sp>
      <p:sp>
        <p:nvSpPr>
          <p:cNvPr id="18" name="Text 15"/>
          <p:cNvSpPr/>
          <p:nvPr/>
        </p:nvSpPr>
        <p:spPr>
          <a:xfrm>
            <a:off x="5248656" y="18928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248656" y="25603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Detection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48656" y="3246120"/>
            <a:ext cx="1755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sensors active above 20 km/h; LED + alarm when a vehicle is detected within 30 cm.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24344" y="169164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507224" y="1892808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2E9B63"/>
          </a:solidFill>
          <a:ln/>
        </p:spPr>
      </p:sp>
      <p:sp>
        <p:nvSpPr>
          <p:cNvPr id="23" name="Text 20"/>
          <p:cNvSpPr/>
          <p:nvPr/>
        </p:nvSpPr>
        <p:spPr>
          <a:xfrm>
            <a:off x="7507224" y="18928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507224" y="25603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Assist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507224" y="3246120"/>
            <a:ext cx="1755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score 0–100 from the average of all 3 sensors when speed drops below 10 km/h.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582912" y="1691640"/>
            <a:ext cx="2121408" cy="3931920"/>
          </a:xfrm>
          <a:prstGeom prst="roundRect">
            <a:avLst>
              <a:gd name="adj" fmla="val 3448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765792" y="1892808"/>
            <a:ext cx="777240" cy="502920"/>
          </a:xfrm>
          <a:prstGeom prst="roundRect">
            <a:avLst>
              <a:gd name="adj" fmla="val 18182"/>
            </a:avLst>
          </a:prstGeom>
          <a:solidFill>
            <a:srgbClr val="D8483F"/>
          </a:solidFill>
          <a:ln/>
        </p:spPr>
      </p:sp>
      <p:sp>
        <p:nvSpPr>
          <p:cNvPr id="28" name="Text 25"/>
          <p:cNvSpPr/>
          <p:nvPr/>
        </p:nvSpPr>
        <p:spPr>
          <a:xfrm>
            <a:off x="9765792" y="18928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765792" y="256032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Overspeed Advisory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765792" y="3246120"/>
            <a:ext cx="1755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ALARM_ADVISORY fires above 120 km/h, independent of obstacle state.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Detection &amp; 4-Level Alarm Priority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BIT-FIELD REGISTER  (uint8_t)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94960" cy="263347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FAULT_OT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temp &gt; 90°C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FAULT_SOC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SOC &lt; 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FAULT_COL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Collision critical (&lt;20cm)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FAULT_SEN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 — sensor timeout (not yet wired)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FAULT_COM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 — comm timeout (not yet wired)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1828800"/>
            <a:ext cx="5394960" cy="43891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182880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46304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91840" y="1828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466344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implemented in Fault_Check(): FAULT_OT, FAULT_SOC, FAULT_COL — packed as one hex byte (e.g. 0x04). On any fault: torque → 0, state → FAULT, red LED (PB11) latches.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263640" y="15087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ALARM PRIORITY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63640" y="182880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96596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E9B63"/>
          </a:solidFill>
          <a:ln/>
        </p:spPr>
      </p:sp>
      <p:sp>
        <p:nvSpPr>
          <p:cNvPr id="16" name="Text 12"/>
          <p:cNvSpPr/>
          <p:nvPr/>
        </p:nvSpPr>
        <p:spPr>
          <a:xfrm>
            <a:off x="6446520" y="1965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NONE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275320" y="1828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 — no alerts active.</a:t>
            </a:r>
            <a:endParaRPr lang="en-US" sz="1100" dirty="0"/>
          </a:p>
        </p:txBody>
      </p:sp>
      <p:sp>
        <p:nvSpPr>
          <p:cNvPr id="7" name="Shape 14"/>
          <p:cNvSpPr/>
          <p:nvPr/>
        </p:nvSpPr>
        <p:spPr>
          <a:xfrm>
            <a:off x="6263640" y="260604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46520" y="2743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6BAF8E"/>
          </a:solidFill>
          <a:ln/>
        </p:spPr>
      </p:sp>
      <p:sp>
        <p:nvSpPr>
          <p:cNvPr id="20" name="Text 16"/>
          <p:cNvSpPr/>
          <p:nvPr/>
        </p:nvSpPr>
        <p:spPr>
          <a:xfrm>
            <a:off x="6446520" y="27432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ADVISORY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75320" y="2606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detected, or vehicle over 120 km/h.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63640" y="338328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46520" y="352044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8991F"/>
          </a:solidFill>
          <a:ln/>
        </p:spPr>
      </p:sp>
      <p:sp>
        <p:nvSpPr>
          <p:cNvPr id="24" name="Text 20"/>
          <p:cNvSpPr/>
          <p:nvPr/>
        </p:nvSpPr>
        <p:spPr>
          <a:xfrm>
            <a:off x="6446520" y="35204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WARNING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75320" y="33832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&lt; 50 cm, or TTC &lt; 3 s.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263640" y="416052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46520" y="42976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D8483F"/>
          </a:solidFill>
          <a:ln/>
        </p:spPr>
      </p:sp>
      <p:sp>
        <p:nvSpPr>
          <p:cNvPr id="28" name="Text 24"/>
          <p:cNvSpPr/>
          <p:nvPr/>
        </p:nvSpPr>
        <p:spPr>
          <a:xfrm>
            <a:off x="6446520" y="4297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CRITICAL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275320" y="41605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&lt; 20 cm, or TTC &lt; 1.5 s — dashboard flashes red.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263640" y="4970400"/>
            <a:ext cx="5349240" cy="131064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6446520" y="5061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OUTPUT — buzzer.c (PC13, non-blocking state machine)</a:t>
            </a:r>
            <a:endParaRPr lang="en-US" sz="1100" b="1" dirty="0"/>
          </a:p>
        </p:txBody>
      </p:sp>
      <p:sp>
        <p:nvSpPr>
          <p:cNvPr id="34" name="Text 30"/>
          <p:cNvSpPr/>
          <p:nvPr/>
        </p:nvSpPr>
        <p:spPr>
          <a:xfrm>
            <a:off x="6446520" y="5382576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ADVISORY → SINGLE beep (150ms on / 850ms off)   ·   P2 WARNING → DOUBLE beep (120/200ms)   ·   P3 CRITICAL → RAPID beep (80/80ms)</a:t>
            </a:r>
          </a:p>
          <a:p>
            <a:pPr marL="0" indent="0" algn="l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PC13 has no timer channel on the F103, so tone is on/off cadence only — ticked from Buzzer_Process() each main-loop pass, never HAL_Delay().</a:t>
            </a:r>
            <a:endParaRPr lang="en-US" sz="1000" i="1" dirty="0"/>
          </a:p>
        </p:txBody>
      </p:sp>
      <p:sp>
        <p:nvSpPr>
          <p:cNvPr id="30" name="Text 2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16233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7373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45059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Power-on / reset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&gt; 2%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87752" y="169164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98064" y="173736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13" name="Text 10"/>
          <p:cNvSpPr/>
          <p:nvPr/>
        </p:nvSpPr>
        <p:spPr>
          <a:xfrm>
            <a:off x="2798064" y="17373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98064" y="233172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35224" y="245059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pedal &gt; 2%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935224" y="31089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(next tick)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37176" y="169164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47488" y="173736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2E9B63"/>
          </a:solidFill>
          <a:ln/>
        </p:spPr>
      </p:sp>
      <p:sp>
        <p:nvSpPr>
          <p:cNvPr id="19" name="Text 16"/>
          <p:cNvSpPr/>
          <p:nvPr/>
        </p:nvSpPr>
        <p:spPr>
          <a:xfrm>
            <a:off x="5047488" y="17373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47488" y="233172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184648" y="245059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fall-through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184648" y="31089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&gt; 5%, or fault flagged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86600" y="169164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296912" y="173736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E8991F"/>
          </a:solidFill>
          <a:ln/>
        </p:spPr>
      </p:sp>
      <p:sp>
        <p:nvSpPr>
          <p:cNvPr id="25" name="Text 22"/>
          <p:cNvSpPr/>
          <p:nvPr/>
        </p:nvSpPr>
        <p:spPr>
          <a:xfrm>
            <a:off x="7296912" y="17373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296912" y="233172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434072" y="245059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&gt; 5% while driving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34072" y="31089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&lt; 5%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336024" y="1691640"/>
            <a:ext cx="256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46336" y="1737360"/>
            <a:ext cx="2084832" cy="502920"/>
          </a:xfrm>
          <a:prstGeom prst="roundRect">
            <a:avLst>
              <a:gd name="adj" fmla="val 18182"/>
            </a:avLst>
          </a:prstGeom>
          <a:solidFill>
            <a:srgbClr val="D8483F"/>
          </a:solidFill>
          <a:ln/>
        </p:spPr>
      </p:sp>
      <p:sp>
        <p:nvSpPr>
          <p:cNvPr id="31" name="Text 28"/>
          <p:cNvSpPr/>
          <p:nvPr/>
        </p:nvSpPr>
        <p:spPr>
          <a:xfrm>
            <a:off x="9546336" y="17373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546336" y="2331720"/>
            <a:ext cx="2084832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683496" y="2450592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 / low SOC / collision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683496" y="31089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Auto-clears, or “fault clear”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85800" y="361188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off, UART heartbeat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935224" y="361188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armed, sensors active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84648" y="361188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PWM, ADAS active, streaming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434072" y="361188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torque PWM, SOC charging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683496" y="3611880"/>
            <a:ext cx="181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PWM, open contactors, alarm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822960" y="4590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HYSTERESIS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822960" y="4919472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only de-asserts once the triggering condition has been absent for 3 consecutive sensor readings (300 ms). This prevents rapid alarm toggling caused by noisy ultrasonic readings near a threshold, and applies to all P1–P3 alarm conditions.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DASHBOARD ·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Telemetry Protocol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bps  ·  two structured ASCII frames streamed every 100 ms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847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 — EV TELEMETRY FRAME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21214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SPD:72.5  SOC:79.3  TRQ:75  TMP:27.1  RNG:2600  ACC:50  BRK:0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9443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 — ADAS FRAME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32186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F:40  L:400  R:400  TTC:2.1s  COL:1  BSD:10  ALM:2  FLT:00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1792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km/h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819656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819656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892808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 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090672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090672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TRQ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163824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torque Nm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361688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361688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434840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temp °C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32704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32704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05856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range (km)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0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903720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F/L/R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76872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dist. cm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8174736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174736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TTC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247888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 (s)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445752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445752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ALM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518904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priority 0–3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716768" y="4069080"/>
            <a:ext cx="1216152" cy="1417320"/>
          </a:xfrm>
          <a:prstGeom prst="roundRect">
            <a:avLst>
              <a:gd name="adj" fmla="val 6015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10716768" y="4206240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FLT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0789920" y="4572000"/>
            <a:ext cx="1069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byte (hex)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DASHBOARD · 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Shell — Live Parameter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783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SHELL?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1488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exact speed/SOC values for deterministic testing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alarm thresholds without dragging potentiometers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33756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battery drain, overheat, and fault conditions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drive modes over the serial terminal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5262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faults and observe recovery behaviour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600200"/>
          <a:ext cx="5897880" cy="39684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speed set &lt;kmh&gt;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vehicle speed directly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soc set &lt;pct&gt;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battery state of charge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 set &lt;degC&gt;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 motor temperature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 &lt;eco|normal|sport&gt;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eco / normal / sport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fault inject &lt;motor|soc|col&gt;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Injects motor overheat, low SOC, or collision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fault clear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Clear all faults, restore normal state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 current EV + ADAS state summary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715000" y="564528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obstacle &lt;cm&gt; / obstacle clear (override front sensor) · alarm test (cycles all 3 buzzer patterns) · reset · help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15000" y="1600200"/>
            <a:ext cx="5897880" cy="4572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5" name="Text 11"/>
          <p:cNvSpPr/>
          <p:nvPr/>
        </p:nvSpPr>
        <p:spPr>
          <a:xfrm>
            <a:off x="585216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00100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DASHBOARD · 18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Matplotlib Dashboard — 10 fps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Speedometer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arc gauge 0–200 km/h. Colour green → orange → red with a needle + numeric readout.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33672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62272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(SOC)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62272" y="21488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with live % and estimated range; drive-mode badge shown below.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18704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47304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History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147304" y="21488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60-sample rolling line chart, cyan trace on a dark background, 0–220 km/h.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50215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685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Metrics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7240" y="405079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panel: torque, accel/brake %, motor temp, alarm level, fault code, UART status.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33672" y="350215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62272" y="36850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Bird's-Eye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462272" y="405079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view: ego vehicle, colour-coded front obstacle, BSD boxes, TTC label.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18704" y="3502152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6233F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47304" y="366674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47304" y="395935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dashboard.py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--port COM3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dashboard.py --demo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CODING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377440" y="5504688"/>
            <a:ext cx="201168" cy="201168"/>
          </a:xfrm>
          <a:prstGeom prst="ellipse">
            <a:avLst/>
          </a:prstGeom>
          <a:solidFill>
            <a:srgbClr val="2E9B63"/>
          </a:solidFill>
          <a:ln/>
        </p:spPr>
      </p:sp>
      <p:sp>
        <p:nvSpPr>
          <p:cNvPr id="26" name="Text 23"/>
          <p:cNvSpPr/>
          <p:nvPr/>
        </p:nvSpPr>
        <p:spPr>
          <a:xfrm>
            <a:off x="2670048" y="5458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clear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5504688"/>
            <a:ext cx="201168" cy="201168"/>
          </a:xfrm>
          <a:prstGeom prst="ellipse">
            <a:avLst/>
          </a:prstGeom>
          <a:solidFill>
            <a:srgbClr val="E8991F"/>
          </a:solidFill>
          <a:ln/>
        </p:spPr>
      </p:sp>
      <p:sp>
        <p:nvSpPr>
          <p:cNvPr id="28" name="Text 25"/>
          <p:cNvSpPr/>
          <p:nvPr/>
        </p:nvSpPr>
        <p:spPr>
          <a:xfrm>
            <a:off x="4956048" y="5458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949440" y="5504688"/>
            <a:ext cx="201168" cy="201168"/>
          </a:xfrm>
          <a:prstGeom prst="ellipse">
            <a:avLst/>
          </a:prstGeom>
          <a:solidFill>
            <a:srgbClr val="D8483F"/>
          </a:solidFill>
          <a:ln/>
        </p:spPr>
      </p:sp>
      <p:sp>
        <p:nvSpPr>
          <p:cNvPr id="30" name="Text 27"/>
          <p:cNvSpPr/>
          <p:nvPr/>
        </p:nvSpPr>
        <p:spPr>
          <a:xfrm>
            <a:off x="7242048" y="5458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fault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235440" y="5504688"/>
            <a:ext cx="201168" cy="201168"/>
          </a:xfrm>
          <a:prstGeom prst="ellipse">
            <a:avLst/>
          </a:prstGeom>
          <a:solidFill>
            <a:srgbClr val="4488FF"/>
          </a:solidFill>
          <a:ln/>
        </p:spPr>
      </p:sp>
      <p:sp>
        <p:nvSpPr>
          <p:cNvPr id="32" name="Text 29"/>
          <p:cNvSpPr/>
          <p:nvPr/>
        </p:nvSpPr>
        <p:spPr>
          <a:xfrm>
            <a:off x="9528048" y="5458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 vehicle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— 9 Build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21762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STM32CubeIDE + PicSimLab + Python setup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88536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1416" y="182880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111496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&amp; Peripherals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11496" y="21762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LED, PWM buzzer, timer interrupts (TIM1/3/4)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28432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11312" y="182880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5"/>
          <p:cNvSpPr/>
          <p:nvPr/>
        </p:nvSpPr>
        <p:spPr>
          <a:xfrm>
            <a:off x="821131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851392" y="18105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Sensor Inputs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851392" y="21762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Potentiometers → accel, brake, motor temp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26440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447288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Dynamics Model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37160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torque, SOC, range, regen, drive modes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88536" y="326440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471416" y="3447288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8" name="Text 25"/>
          <p:cNvSpPr/>
          <p:nvPr/>
        </p:nvSpPr>
        <p:spPr>
          <a:xfrm>
            <a:off x="4471416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111496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ADAS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111496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front/left/right → FCW + BSD + TTC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28432" y="3273034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211312" y="3447288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3" name="Text 30"/>
          <p:cNvSpPr/>
          <p:nvPr/>
        </p:nvSpPr>
        <p:spPr>
          <a:xfrm>
            <a:off x="8211312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851392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&amp; Alarm System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851392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Bit-field faults + 4-level alarm priority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8640" y="4882896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31520" y="5065776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8" name="Text 35"/>
          <p:cNvSpPr/>
          <p:nvPr/>
        </p:nvSpPr>
        <p:spPr>
          <a:xfrm>
            <a:off x="731520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371600" y="5047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Telemetry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371600" y="54132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frames: SPD / SOC / TRQ / TMP / RNG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288536" y="4882896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471416" y="5065776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43" name="Text 40"/>
          <p:cNvSpPr/>
          <p:nvPr/>
        </p:nvSpPr>
        <p:spPr>
          <a:xfrm>
            <a:off x="4471416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5111496" y="5047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Shell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111496" y="54132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parameter injection via serial commands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028432" y="4882896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211312" y="5065776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48" name="Text 45"/>
          <p:cNvSpPr/>
          <p:nvPr/>
        </p:nvSpPr>
        <p:spPr>
          <a:xfrm>
            <a:off x="8211312" y="5065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8851392" y="5047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Dashboard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8851392" y="541324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Matplotlib: speedometer, ADAS bird's-eye, SOC bar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What We Validated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013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 &amp; SOC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88720" y="21305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Speedometer updates at 10 fps; SOC drains correctly with power draw and recovers under regen braking.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6364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0136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1764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Collision Detection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903720" y="21305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obstacle reliably detected below 50 cm; alarm escalates to CRITICAL at 20 cm with a dashboard red-flash.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3154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5584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319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Monitoring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88720" y="36850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BSD triggers above 20 km/h with correct 3-sample hysteresis — no false positives at highway speed.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63640" y="31546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35584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03720" y="33192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Over-Temp Fault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903720" y="368503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FAULT_OT (0x01) sets above 90°C; torque drops to 0, state → FAULT, LED latches ON.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48640" y="47091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1032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4873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Dashboard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188720" y="52395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panels render live from the UART stream; a --demo mode runs without hardware for presentation.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63640" y="47091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910328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03720" y="4873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Shell Tested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6903720" y="52395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set / fault inject / fault clear verified on the PicSimLab serial monitor; faults recover cleanly.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8865" y="1051560"/>
            <a:ext cx="4754880" cy="4754880"/>
          </a:xfrm>
          <a:prstGeom prst="ellipse">
            <a:avLst/>
          </a:prstGeom>
          <a:ln w="15240">
            <a:solidFill>
              <a:srgbClr val="12A5A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13225" y="1645920"/>
            <a:ext cx="3566160" cy="3566160"/>
          </a:xfrm>
          <a:prstGeom prst="ellipse">
            <a:avLst/>
          </a:prstGeom>
          <a:ln w="15240">
            <a:solidFill>
              <a:srgbClr val="12A5A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07585" y="2240280"/>
            <a:ext cx="2377440" cy="2377440"/>
          </a:xfrm>
          <a:prstGeom prst="ellipse">
            <a:avLst/>
          </a:prstGeom>
          <a:ln w="15240">
            <a:solidFill>
              <a:srgbClr val="12A5A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30545" y="3063240"/>
            <a:ext cx="731520" cy="731520"/>
          </a:xfrm>
          <a:prstGeom prst="ellipse">
            <a:avLst/>
          </a:prstGeom>
          <a:solidFill>
            <a:srgbClr val="E8991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713" y="3264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10515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SCREEN RECORDING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1605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Simulation Demo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PicSimLab (Blue Pill)  →  UART  →  Python Dashboard, running live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Live Demo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— Skills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4572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08" y="612648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099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Peripheral Programming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057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GPIO, ADC, Timers, UART — from register concepts to portable HAL calls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7099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Design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92240" y="2057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blocking HAL_Delay() loops to timer ISRs and multi-rate scheduling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81635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32735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ADC mapping, scaling, and multi-channel polling under simulator constraints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63640" y="281635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2926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Modelling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92240" y="32735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Inertia, drag, copper loss, and Newton cooling turned into real-time C code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403250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" y="4142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for ADAS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77240" y="44897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3 ultrasonic sensors with speed data into TTC-based collision logic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63640" y="403250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92240" y="414223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State Machines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92240" y="448970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Bit-field faults, hysteresis, and a deterministic 5-state vehicle lifecycle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24865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535838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Protocol Design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77240" y="570585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parseable UART telemetry format plus a debug command shell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63640" y="524865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/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492240" y="535838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492240" y="570585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sensor data into a responsive 10 fps Python/matplotlib dashboard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 •  Emertxe Embedded Systems Internship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64240" y="6528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11480"/>
            <a:ext cx="6035040" cy="6035040"/>
          </a:xfrm>
          <a:prstGeom prst="ellipse">
            <a:avLst/>
          </a:prstGeom>
          <a:ln w="13970">
            <a:solidFill>
              <a:srgbClr val="12A5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75220" y="937260"/>
            <a:ext cx="4983480" cy="4983480"/>
          </a:xfrm>
          <a:prstGeom prst="ellipse">
            <a:avLst/>
          </a:prstGeom>
          <a:ln w="13970">
            <a:solidFill>
              <a:srgbClr val="12A5A0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1463040"/>
            <a:ext cx="3931920" cy="3931920"/>
          </a:xfrm>
          <a:prstGeom prst="ellipse">
            <a:avLst/>
          </a:prstGeom>
          <a:ln w="13970">
            <a:solidFill>
              <a:srgbClr val="12A5A0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26780" y="1988820"/>
            <a:ext cx="2880360" cy="2880360"/>
          </a:xfrm>
          <a:prstGeom prst="ellipse">
            <a:avLst/>
          </a:prstGeom>
          <a:ln w="13970">
            <a:solidFill>
              <a:srgbClr val="12A5A0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3108960"/>
            <a:ext cx="640080" cy="640080"/>
          </a:xfrm>
          <a:prstGeom prst="ellipse">
            <a:avLst/>
          </a:prstGeom>
          <a:solidFill>
            <a:srgbClr val="E8991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ADAS Dashboard — STM32 Blue Pill · PicSimLab · Python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Emertxe Embedded Systems Internship — Capstone Project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Debjit Das  ·  Team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Emertxe</a:t>
            </a: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Animesh Kullu  ·  Team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Emertxe</a:t>
            </a:r>
            <a:endParaRPr lang="en-US" sz="1300" dirty="0"/>
          </a:p>
          <a:p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Supradip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Karmakar  ·  Team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Emertxe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193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4017</Words>
  <Application>Microsoft Office PowerPoint</Application>
  <PresentationFormat>Widescreen</PresentationFormat>
  <Paragraphs>644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ADAS Dashboard — Emertxe Internship Capstone</dc:title>
  <dc:subject>PptxGenJS Presentation</dc:subject>
  <dc:creator>Debjit Das</dc:creator>
  <cp:lastModifiedBy>Debjit das</cp:lastModifiedBy>
  <cp:revision>3</cp:revision>
  <dcterms:created xsi:type="dcterms:W3CDTF">2026-07-08T03:07:05Z</dcterms:created>
  <dcterms:modified xsi:type="dcterms:W3CDTF">2026-07-08T07:14:13Z</dcterms:modified>
</cp:coreProperties>
</file>